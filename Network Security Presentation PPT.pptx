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66"/>
    <p:restoredTop sz="94725"/>
  </p:normalViewPr>
  <p:slideViewPr>
    <p:cSldViewPr snapToGrid="0">
      <p:cViewPr>
        <p:scale>
          <a:sx n="63" d="100"/>
          <a:sy n="63" d="100"/>
        </p:scale>
        <p:origin x="144" y="1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11/29/25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11/29/25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11/29/25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11/29/25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11/29/25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11/29/25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11/29/25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21D69-5466-1370-06E4-43F2DC67BA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Secure Network Design and Implementation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04F8B6-B4D6-5156-3EA1-9CDA1E8A24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134402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CSCE 5585 Course Project</a:t>
            </a:r>
          </a:p>
          <a:p>
            <a:r>
              <a:rPr lang="en-US" dirty="0"/>
              <a:t>Chandana Mariyada </a:t>
            </a:r>
          </a:p>
          <a:p>
            <a:r>
              <a:rPr lang="en-US" dirty="0"/>
              <a:t>Dheeraj </a:t>
            </a:r>
          </a:p>
          <a:p>
            <a:r>
              <a:rPr lang="en-US" dirty="0"/>
              <a:t>raj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682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81EF6-6CF3-F475-54F7-980BFEEA4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B48A9-7AF8-8DCA-016C-267AEAB56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Design, implement, and evaluate a </a:t>
            </a:r>
            <a:r>
              <a:rPr lang="en-US" b="1" dirty="0"/>
              <a:t>secure network</a:t>
            </a:r>
            <a:r>
              <a:rPr lang="en-US" dirty="0"/>
              <a:t> using industry tools</a:t>
            </a:r>
          </a:p>
          <a:p>
            <a:r>
              <a:rPr lang="en-US" dirty="0"/>
              <a:t>Ensure security of communication pathways and devices</a:t>
            </a:r>
          </a:p>
          <a:p>
            <a:r>
              <a:rPr lang="en-US" dirty="0"/>
              <a:t>Deploy </a:t>
            </a:r>
            <a:r>
              <a:rPr lang="en-US" b="1" dirty="0"/>
              <a:t>Firewall, VPN, IDS/IPS</a:t>
            </a:r>
            <a:endParaRPr lang="en-US" dirty="0"/>
          </a:p>
          <a:p>
            <a:r>
              <a:rPr lang="en-US" dirty="0"/>
              <a:t>Include </a:t>
            </a:r>
            <a:r>
              <a:rPr lang="en-US" b="1" dirty="0"/>
              <a:t>Pen-testing</a:t>
            </a:r>
            <a:r>
              <a:rPr lang="en-US" dirty="0"/>
              <a:t> to assess robustness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45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56D3D-92C4-370D-6F4F-6B535D2B5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computer network&#10;&#10;Description automatically generated">
            <a:extLst>
              <a:ext uri="{FF2B5EF4-FFF2-40B4-BE49-F238E27FC236}">
                <a16:creationId xmlns:a16="http://schemas.microsoft.com/office/drawing/2014/main" id="{164A4658-8E94-0BFE-BD6F-086455E71D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4160" y="2603500"/>
            <a:ext cx="5730240" cy="3416300"/>
          </a:xfrm>
        </p:spPr>
      </p:pic>
    </p:spTree>
    <p:extLst>
      <p:ext uri="{BB962C8B-B14F-4D97-AF65-F5344CB8AC3E}">
        <p14:creationId xmlns:p14="http://schemas.microsoft.com/office/powerpoint/2010/main" val="59528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96AB3-783F-9634-728E-50D1BD2E1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98B96-5309-92E0-BD91-39F28B624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Design</a:t>
            </a:r>
          </a:p>
          <a:p>
            <a:r>
              <a:rPr lang="en-US" dirty="0"/>
              <a:t>Firewall</a:t>
            </a:r>
          </a:p>
          <a:p>
            <a:r>
              <a:rPr lang="en-US" dirty="0"/>
              <a:t>VPN</a:t>
            </a:r>
          </a:p>
          <a:p>
            <a:r>
              <a:rPr lang="en-US" dirty="0"/>
              <a:t>IDS/IPS</a:t>
            </a:r>
          </a:p>
          <a:p>
            <a:r>
              <a:rPr lang="en-US" dirty="0"/>
              <a:t>Testing Tools: </a:t>
            </a:r>
            <a:r>
              <a:rPr lang="en-US" b="1" dirty="0"/>
              <a:t>Nmap, Metasploit, Nessus, Wireshark</a:t>
            </a:r>
            <a:r>
              <a:rPr lang="en-US" dirty="0"/>
              <a:t> CSCE 5585 Secure Network Design…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584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BF590-8C58-149F-28FD-3A7727A16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45F60-254D-7B02-B68A-4E7E3D12F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topology diagrams</a:t>
            </a:r>
          </a:p>
          <a:p>
            <a:r>
              <a:rPr lang="en-US" dirty="0"/>
              <a:t>Firewall, VPN, IDS/IPS configurations</a:t>
            </a:r>
          </a:p>
          <a:p>
            <a:r>
              <a:rPr lang="en-US" dirty="0"/>
              <a:t>Penetration testing report</a:t>
            </a:r>
          </a:p>
          <a:p>
            <a:r>
              <a:rPr lang="en-US" dirty="0"/>
              <a:t>Complete documentation and presentation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955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24485-77A2-5466-086F-2A32E40BD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Environment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A4A4-068A-0BAA-1F73-3FD5DB78E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virtual labs like </a:t>
            </a:r>
            <a:r>
              <a:rPr lang="en-US" b="1" dirty="0"/>
              <a:t>GNS3, VirtualBox, VMware, EVE-NG</a:t>
            </a:r>
            <a:endParaRPr lang="en-US" dirty="0"/>
          </a:p>
          <a:p>
            <a:r>
              <a:rPr lang="en-US" dirty="0"/>
              <a:t>Created virtual instances of routers, switches, </a:t>
            </a:r>
            <a:r>
              <a:rPr lang="en-US" dirty="0" err="1"/>
              <a:t>pfSense</a:t>
            </a:r>
            <a:r>
              <a:rPr lang="en-US" dirty="0"/>
              <a:t>, and servers</a:t>
            </a:r>
          </a:p>
          <a:p>
            <a:r>
              <a:rPr lang="en-US" dirty="0"/>
              <a:t>VLANs + DMZ + internal servers setup</a:t>
            </a:r>
          </a:p>
          <a:p>
            <a:endParaRPr lang="en-US" dirty="0"/>
          </a:p>
        </p:txBody>
      </p:sp>
      <p:pic>
        <p:nvPicPr>
          <p:cNvPr id="4" name="Picture 3" descr="A diagram of a network&#10;&#10;AI-generated content may be incorrect.">
            <a:extLst>
              <a:ext uri="{FF2B5EF4-FFF2-40B4-BE49-F238E27FC236}">
                <a16:creationId xmlns:a16="http://schemas.microsoft.com/office/drawing/2014/main" id="{2348B238-AF82-751D-806D-99A6159FA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00" y="3608290"/>
            <a:ext cx="3378200" cy="241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98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2251F-8552-ECCF-2098-F83804583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7EAB3-8220-4F50-15A6-BB04B0F07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Segmented Secure Network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Components: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LAN: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internal clients and applications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DMZ: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public-facing services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WAN: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external connection / cloud provider</a:t>
            </a:r>
          </a:p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Outcome: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Controlled traffic paths and reduced attack surface</a:t>
            </a:r>
          </a:p>
          <a:p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796A75-383D-0460-E28D-D9D867702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03500"/>
            <a:ext cx="2971800" cy="151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436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06331F9-7C9F-4BB2-87F8-B8727CC2C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760E064B-C2F2-4237-8792-5F01F0F4C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5F377F0-1AD0-4A6F-A698-9724187046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F094C3D3-17E7-4BCC-B786-4B3BDD25E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FF218D-08B6-D2DD-F070-71258AE9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2942210" cy="1020232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FFFE"/>
              </a:solidFill>
            </a:endParaRP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9BD4466F-F4B1-C149-AC61-0F880258E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607" y="2120413"/>
            <a:ext cx="3113903" cy="2617174"/>
          </a:xfrm>
          <a:prstGeom prst="rect">
            <a:avLst/>
          </a:prstGeom>
        </p:spPr>
      </p:pic>
      <p:pic>
        <p:nvPicPr>
          <p:cNvPr id="4" name="Content Placeholder 3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950004CF-0F97-758E-994A-6F72C7C79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236" y="1457742"/>
            <a:ext cx="3113904" cy="123777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C650D5C-009B-4021-82BD-1E28BFF45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29D013C-7FA3-5BB2-2625-767FFB39E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120900"/>
            <a:ext cx="3133726" cy="3898900"/>
          </a:xfrm>
        </p:spPr>
        <p:txBody>
          <a:bodyPr>
            <a:normAutofit/>
          </a:bodyPr>
          <a:lstStyle/>
          <a:p>
            <a:r>
              <a:rPr lang="en-US" dirty="0"/>
              <a:t>Ubuntu DMZ IP</a:t>
            </a:r>
          </a:p>
          <a:p>
            <a:r>
              <a:rPr lang="en-US" dirty="0"/>
              <a:t>Windows LAN </a:t>
            </a:r>
          </a:p>
          <a:p>
            <a:r>
              <a:rPr lang="en-US" dirty="0"/>
              <a:t>Kali LAN screenshot</a:t>
            </a:r>
          </a:p>
          <a:p>
            <a:endParaRPr lang="en-US" dirty="0">
              <a:solidFill>
                <a:srgbClr val="FFFFFE"/>
              </a:solidFill>
            </a:endParaRPr>
          </a:p>
        </p:txBody>
      </p:sp>
      <p:pic>
        <p:nvPicPr>
          <p:cNvPr id="7" name="Picture 6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F0CC63B7-EB5E-0596-4C61-A9D9BF6629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236" y="4205296"/>
            <a:ext cx="3113904" cy="115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7025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46A0C-5D78-E06B-EF26-A972BAC72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Firewall as Perimeter Defense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7C0D5-2D1F-1506-5ACE-DE5BCE590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2603500"/>
            <a:ext cx="11074400" cy="3959860"/>
          </a:xfrm>
        </p:spPr>
        <p:txBody>
          <a:bodyPr/>
          <a:lstStyle/>
          <a:p>
            <a:pPr algn="l"/>
            <a:r>
              <a:rPr lang="en-US" b="1" i="0" u="none" strike="noStrike" dirty="0" err="1">
                <a:solidFill>
                  <a:srgbClr val="000000"/>
                </a:solidFill>
                <a:effectLst/>
              </a:rPr>
              <a:t>pfSense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 Enforcement Layer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Interface-based rules for WAN, LAN &amp; DMZ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NAT configured for secure external access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ACLs restrict lateral movement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Logging enabled for packet inspection</a:t>
            </a:r>
          </a:p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1F47C1-A24F-59D6-0912-971B10FCE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011" y="2344420"/>
            <a:ext cx="3289989" cy="1587916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47857F-7A69-CDCE-2D89-74AA9984CD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933" y="4433332"/>
            <a:ext cx="3538587" cy="16294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4A2256-BD27-F0B1-EBF1-78857E366418}"/>
              </a:ext>
            </a:extLst>
          </p:cNvPr>
          <p:cNvSpPr txBox="1"/>
          <p:nvPr/>
        </p:nvSpPr>
        <p:spPr>
          <a:xfrm>
            <a:off x="6868160" y="3982720"/>
            <a:ext cx="1808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WAN Rules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8FE1ED-4A58-09D6-460A-52678AD8260E}"/>
              </a:ext>
            </a:extLst>
          </p:cNvPr>
          <p:cNvSpPr txBox="1"/>
          <p:nvPr/>
        </p:nvSpPr>
        <p:spPr>
          <a:xfrm>
            <a:off x="6868160" y="6339840"/>
            <a:ext cx="227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LAN Rule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837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7D1DA-F8BD-D000-AD91-EF8047F44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5254EF-657D-3B93-B1EA-D1798A650E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4954" y="2728386"/>
            <a:ext cx="2838427" cy="166370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E3A114-B47F-E970-F244-E85D06482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41" y="2523064"/>
            <a:ext cx="3105740" cy="188468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EC9ABF-F763-E975-D38E-0F8EA5C3E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7673" y="4521577"/>
            <a:ext cx="3218860" cy="17789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D8F391-D814-E1D2-8982-D8EC06D6125B}"/>
              </a:ext>
            </a:extLst>
          </p:cNvPr>
          <p:cNvSpPr txBox="1"/>
          <p:nvPr/>
        </p:nvSpPr>
        <p:spPr>
          <a:xfrm>
            <a:off x="6366533" y="4521577"/>
            <a:ext cx="28384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NAT Configuration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0853DB-29E1-1F0C-9D8C-021C98C0B2CF}"/>
              </a:ext>
            </a:extLst>
          </p:cNvPr>
          <p:cNvSpPr txBox="1"/>
          <p:nvPr/>
        </p:nvSpPr>
        <p:spPr>
          <a:xfrm>
            <a:off x="1154954" y="4521576"/>
            <a:ext cx="1832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OPT(DMZ) Rule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744E1C-DA34-A524-4D72-3F43D5C2673C}"/>
              </a:ext>
            </a:extLst>
          </p:cNvPr>
          <p:cNvSpPr txBox="1"/>
          <p:nvPr/>
        </p:nvSpPr>
        <p:spPr>
          <a:xfrm>
            <a:off x="2987040" y="6406257"/>
            <a:ext cx="4531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Blocked DMZ→LAN packet screenshot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330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69310-3D23-27EB-0CD3-802DB7CC8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 &amp; Access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52E7E-7C1A-CE11-93D6-6FA627856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Zero-Trust Segmentation Model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VLANs separate HR, Finance, Operations          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DMZ hosts isolated from LAN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Explicit permissions only for business routes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No direct traffic from DMZ → LAN</a:t>
            </a:r>
          </a:p>
          <a:p>
            <a:endParaRPr lang="en-US" dirty="0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B332F89-D524-2219-2442-088AD6D30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921" y="2311400"/>
            <a:ext cx="3601720" cy="16300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13E3D6-BCA2-731A-31C6-1E3850131646}"/>
              </a:ext>
            </a:extLst>
          </p:cNvPr>
          <p:cNvSpPr txBox="1"/>
          <p:nvPr/>
        </p:nvSpPr>
        <p:spPr>
          <a:xfrm>
            <a:off x="7254240" y="4003039"/>
            <a:ext cx="4673600" cy="395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Ubuntu → </a:t>
            </a:r>
            <a:r>
              <a:rPr lang="en-US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pfSense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DMZ (192.168.20.1)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50862C-F875-6EDF-ECD7-27783BAE4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566" y="4526457"/>
            <a:ext cx="2971801" cy="224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488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E6B62-6B17-7E02-FADF-DA2FBEA45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VPN Secure Remote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AF4CC-8828-9166-261E-A17DA1FC4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OpenVPN Integration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Encrypted remote communication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Client exported profiles for authentication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VPN traffic controlled via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pfSense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rules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Validated secure access to resources</a:t>
            </a:r>
          </a:p>
          <a:p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01608A-1D6F-39AB-4DD2-1330DAF29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240" y="2812415"/>
            <a:ext cx="3852333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332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C030789-C525-4D1D-90A0-F48C14A76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1BD0F81-508F-4C6D-9938-C58CC2138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49081238-0806-4285-968F-ACFC0C0FB9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80CAB4C1-E9FF-4C37-92FA-28BED3B88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BD7060D-8DA2-4400-86F1-6A988F0E8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>
              <a:duotone>
                <a:schemeClr val="dk2">
                  <a:shade val="69000"/>
                  <a:hueMod val="91000"/>
                  <a:satMod val="164000"/>
                  <a:lumMod val="74000"/>
                </a:schemeClr>
                <a:schemeClr val="dk2">
                  <a:hueMod val="124000"/>
                  <a:satMod val="140000"/>
                  <a:lumMod val="142000"/>
                </a:schemeClr>
              </a:duotone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E6678A-6101-4D77-8A14-5F70FBDB6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545B2F-3595-F8B0-C595-EB6DFC065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10" y="862771"/>
            <a:ext cx="3557016" cy="2662339"/>
          </a:xfrm>
          <a:prstGeom prst="roundRect">
            <a:avLst>
              <a:gd name="adj" fmla="val 1858"/>
            </a:avLst>
          </a:prstGeom>
          <a:effectLst/>
        </p:spPr>
      </p:pic>
      <p:pic>
        <p:nvPicPr>
          <p:cNvPr id="6" name="Picture 5" descr="A screenshot of a computer error&#10;&#10;AI-generated content may be incorrect.">
            <a:extLst>
              <a:ext uri="{FF2B5EF4-FFF2-40B4-BE49-F238E27FC236}">
                <a16:creationId xmlns:a16="http://schemas.microsoft.com/office/drawing/2014/main" id="{9F73CDB7-8452-2969-5380-D4766B5FF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994" y="1050032"/>
            <a:ext cx="3557016" cy="2286228"/>
          </a:xfrm>
          <a:prstGeom prst="roundRect">
            <a:avLst>
              <a:gd name="adj" fmla="val 1858"/>
            </a:avLst>
          </a:prstGeom>
          <a:effectLst/>
        </p:spPr>
      </p:pic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97273F-0DEF-0A44-B370-8A678493B2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7977825" y="1103811"/>
            <a:ext cx="3557016" cy="2178671"/>
          </a:xfrm>
          <a:prstGeom prst="roundRect">
            <a:avLst>
              <a:gd name="adj" fmla="val 1858"/>
            </a:avLst>
          </a:prstGeom>
          <a:effectLst/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AFA4E1D0-9351-4451-B0A0-51BEA42D8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D052C5D-4E47-47F1-96A6-5251FAAED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133850"/>
            <a:ext cx="11277600" cy="2250018"/>
          </a:xfrm>
          <a:custGeom>
            <a:avLst/>
            <a:gdLst>
              <a:gd name="connsiteX0" fmla="*/ 5264150 w 11277600"/>
              <a:gd name="connsiteY0" fmla="*/ 0 h 2250018"/>
              <a:gd name="connsiteX1" fmla="*/ 5499100 w 11277600"/>
              <a:gd name="connsiteY1" fmla="*/ 1588 h 2250018"/>
              <a:gd name="connsiteX2" fmla="*/ 5730875 w 11277600"/>
              <a:gd name="connsiteY2" fmla="*/ 1588 h 2250018"/>
              <a:gd name="connsiteX3" fmla="*/ 5961063 w 11277600"/>
              <a:gd name="connsiteY3" fmla="*/ 4763 h 2250018"/>
              <a:gd name="connsiteX4" fmla="*/ 6186488 w 11277600"/>
              <a:gd name="connsiteY4" fmla="*/ 9525 h 2250018"/>
              <a:gd name="connsiteX5" fmla="*/ 6410325 w 11277600"/>
              <a:gd name="connsiteY5" fmla="*/ 14288 h 2250018"/>
              <a:gd name="connsiteX6" fmla="*/ 6629400 w 11277600"/>
              <a:gd name="connsiteY6" fmla="*/ 19050 h 2250018"/>
              <a:gd name="connsiteX7" fmla="*/ 6846888 w 11277600"/>
              <a:gd name="connsiteY7" fmla="*/ 26988 h 2250018"/>
              <a:gd name="connsiteX8" fmla="*/ 7061200 w 11277600"/>
              <a:gd name="connsiteY8" fmla="*/ 34925 h 2250018"/>
              <a:gd name="connsiteX9" fmla="*/ 7270750 w 11277600"/>
              <a:gd name="connsiteY9" fmla="*/ 42863 h 2250018"/>
              <a:gd name="connsiteX10" fmla="*/ 7680325 w 11277600"/>
              <a:gd name="connsiteY10" fmla="*/ 63500 h 2250018"/>
              <a:gd name="connsiteX11" fmla="*/ 8072438 w 11277600"/>
              <a:gd name="connsiteY11" fmla="*/ 85725 h 2250018"/>
              <a:gd name="connsiteX12" fmla="*/ 8448675 w 11277600"/>
              <a:gd name="connsiteY12" fmla="*/ 109538 h 2250018"/>
              <a:gd name="connsiteX13" fmla="*/ 8805862 w 11277600"/>
              <a:gd name="connsiteY13" fmla="*/ 134938 h 2250018"/>
              <a:gd name="connsiteX14" fmla="*/ 9145588 w 11277600"/>
              <a:gd name="connsiteY14" fmla="*/ 161925 h 2250018"/>
              <a:gd name="connsiteX15" fmla="*/ 9461500 w 11277600"/>
              <a:gd name="connsiteY15" fmla="*/ 190500 h 2250018"/>
              <a:gd name="connsiteX16" fmla="*/ 9758362 w 11277600"/>
              <a:gd name="connsiteY16" fmla="*/ 219075 h 2250018"/>
              <a:gd name="connsiteX17" fmla="*/ 10031412 w 11277600"/>
              <a:gd name="connsiteY17" fmla="*/ 247650 h 2250018"/>
              <a:gd name="connsiteX18" fmla="*/ 10282238 w 11277600"/>
              <a:gd name="connsiteY18" fmla="*/ 274638 h 2250018"/>
              <a:gd name="connsiteX19" fmla="*/ 10504488 w 11277600"/>
              <a:gd name="connsiteY19" fmla="*/ 300038 h 2250018"/>
              <a:gd name="connsiteX20" fmla="*/ 10704512 w 11277600"/>
              <a:gd name="connsiteY20" fmla="*/ 323850 h 2250018"/>
              <a:gd name="connsiteX21" fmla="*/ 10874375 w 11277600"/>
              <a:gd name="connsiteY21" fmla="*/ 344488 h 2250018"/>
              <a:gd name="connsiteX22" fmla="*/ 11015662 w 11277600"/>
              <a:gd name="connsiteY22" fmla="*/ 363538 h 2250018"/>
              <a:gd name="connsiteX23" fmla="*/ 11210925 w 11277600"/>
              <a:gd name="connsiteY23" fmla="*/ 390525 h 2250018"/>
              <a:gd name="connsiteX24" fmla="*/ 11277600 w 11277600"/>
              <a:gd name="connsiteY24" fmla="*/ 400050 h 2250018"/>
              <a:gd name="connsiteX25" fmla="*/ 11277600 w 11277600"/>
              <a:gd name="connsiteY25" fmla="*/ 2250018 h 2250018"/>
              <a:gd name="connsiteX26" fmla="*/ 0 w 11277600"/>
              <a:gd name="connsiteY26" fmla="*/ 2250018 h 2250018"/>
              <a:gd name="connsiteX27" fmla="*/ 0 w 11277600"/>
              <a:gd name="connsiteY27" fmla="*/ 398463 h 2250018"/>
              <a:gd name="connsiteX28" fmla="*/ 255588 w 11277600"/>
              <a:gd name="connsiteY28" fmla="*/ 358775 h 2250018"/>
              <a:gd name="connsiteX29" fmla="*/ 511175 w 11277600"/>
              <a:gd name="connsiteY29" fmla="*/ 320675 h 2250018"/>
              <a:gd name="connsiteX30" fmla="*/ 766762 w 11277600"/>
              <a:gd name="connsiteY30" fmla="*/ 284163 h 2250018"/>
              <a:gd name="connsiteX31" fmla="*/ 1023938 w 11277600"/>
              <a:gd name="connsiteY31" fmla="*/ 252413 h 2250018"/>
              <a:gd name="connsiteX32" fmla="*/ 1279525 w 11277600"/>
              <a:gd name="connsiteY32" fmla="*/ 220663 h 2250018"/>
              <a:gd name="connsiteX33" fmla="*/ 1536700 w 11277600"/>
              <a:gd name="connsiteY33" fmla="*/ 190500 h 2250018"/>
              <a:gd name="connsiteX34" fmla="*/ 1790700 w 11277600"/>
              <a:gd name="connsiteY34" fmla="*/ 165100 h 2250018"/>
              <a:gd name="connsiteX35" fmla="*/ 2047875 w 11277600"/>
              <a:gd name="connsiteY35" fmla="*/ 141288 h 2250018"/>
              <a:gd name="connsiteX36" fmla="*/ 2303462 w 11277600"/>
              <a:gd name="connsiteY36" fmla="*/ 119063 h 2250018"/>
              <a:gd name="connsiteX37" fmla="*/ 2555875 w 11277600"/>
              <a:gd name="connsiteY37" fmla="*/ 100013 h 2250018"/>
              <a:gd name="connsiteX38" fmla="*/ 2809875 w 11277600"/>
              <a:gd name="connsiteY38" fmla="*/ 80963 h 2250018"/>
              <a:gd name="connsiteX39" fmla="*/ 3062288 w 11277600"/>
              <a:gd name="connsiteY39" fmla="*/ 65088 h 2250018"/>
              <a:gd name="connsiteX40" fmla="*/ 3313113 w 11277600"/>
              <a:gd name="connsiteY40" fmla="*/ 52388 h 2250018"/>
              <a:gd name="connsiteX41" fmla="*/ 3563938 w 11277600"/>
              <a:gd name="connsiteY41" fmla="*/ 39688 h 2250018"/>
              <a:gd name="connsiteX42" fmla="*/ 3811588 w 11277600"/>
              <a:gd name="connsiteY42" fmla="*/ 28575 h 2250018"/>
              <a:gd name="connsiteX43" fmla="*/ 4057650 w 11277600"/>
              <a:gd name="connsiteY43" fmla="*/ 20638 h 2250018"/>
              <a:gd name="connsiteX44" fmla="*/ 4303713 w 11277600"/>
              <a:gd name="connsiteY44" fmla="*/ 14288 h 2250018"/>
              <a:gd name="connsiteX45" fmla="*/ 4546600 w 11277600"/>
              <a:gd name="connsiteY45" fmla="*/ 7938 h 2250018"/>
              <a:gd name="connsiteX46" fmla="*/ 4787900 w 11277600"/>
              <a:gd name="connsiteY46" fmla="*/ 4763 h 2250018"/>
              <a:gd name="connsiteX47" fmla="*/ 5027613 w 11277600"/>
              <a:gd name="connsiteY47" fmla="*/ 1588 h 2250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277600" h="2250018">
                <a:moveTo>
                  <a:pt x="5264150" y="0"/>
                </a:moveTo>
                <a:lnTo>
                  <a:pt x="5499100" y="1588"/>
                </a:lnTo>
                <a:lnTo>
                  <a:pt x="5730875" y="1588"/>
                </a:lnTo>
                <a:lnTo>
                  <a:pt x="5961063" y="4763"/>
                </a:lnTo>
                <a:lnTo>
                  <a:pt x="6186488" y="9525"/>
                </a:lnTo>
                <a:lnTo>
                  <a:pt x="6410325" y="14288"/>
                </a:lnTo>
                <a:lnTo>
                  <a:pt x="6629400" y="19050"/>
                </a:lnTo>
                <a:lnTo>
                  <a:pt x="6846888" y="26988"/>
                </a:lnTo>
                <a:lnTo>
                  <a:pt x="7061200" y="34925"/>
                </a:lnTo>
                <a:lnTo>
                  <a:pt x="7270750" y="42863"/>
                </a:lnTo>
                <a:lnTo>
                  <a:pt x="7680325" y="63500"/>
                </a:lnTo>
                <a:lnTo>
                  <a:pt x="8072438" y="85725"/>
                </a:lnTo>
                <a:lnTo>
                  <a:pt x="8448675" y="109538"/>
                </a:lnTo>
                <a:lnTo>
                  <a:pt x="8805862" y="134938"/>
                </a:lnTo>
                <a:lnTo>
                  <a:pt x="9145588" y="161925"/>
                </a:lnTo>
                <a:lnTo>
                  <a:pt x="9461500" y="190500"/>
                </a:lnTo>
                <a:lnTo>
                  <a:pt x="9758362" y="219075"/>
                </a:lnTo>
                <a:lnTo>
                  <a:pt x="10031412" y="247650"/>
                </a:lnTo>
                <a:lnTo>
                  <a:pt x="10282238" y="274638"/>
                </a:lnTo>
                <a:lnTo>
                  <a:pt x="10504488" y="300038"/>
                </a:lnTo>
                <a:lnTo>
                  <a:pt x="10704512" y="323850"/>
                </a:lnTo>
                <a:lnTo>
                  <a:pt x="10874375" y="344488"/>
                </a:lnTo>
                <a:lnTo>
                  <a:pt x="11015662" y="363538"/>
                </a:lnTo>
                <a:lnTo>
                  <a:pt x="11210925" y="390525"/>
                </a:lnTo>
                <a:lnTo>
                  <a:pt x="11277600" y="400050"/>
                </a:lnTo>
                <a:lnTo>
                  <a:pt x="11277600" y="2250018"/>
                </a:lnTo>
                <a:lnTo>
                  <a:pt x="0" y="2250018"/>
                </a:lnTo>
                <a:lnTo>
                  <a:pt x="0" y="398463"/>
                </a:lnTo>
                <a:lnTo>
                  <a:pt x="255588" y="358775"/>
                </a:lnTo>
                <a:lnTo>
                  <a:pt x="511175" y="320675"/>
                </a:lnTo>
                <a:lnTo>
                  <a:pt x="766762" y="284163"/>
                </a:lnTo>
                <a:lnTo>
                  <a:pt x="1023938" y="252413"/>
                </a:lnTo>
                <a:lnTo>
                  <a:pt x="1279525" y="220663"/>
                </a:lnTo>
                <a:lnTo>
                  <a:pt x="1536700" y="190500"/>
                </a:lnTo>
                <a:lnTo>
                  <a:pt x="1790700" y="165100"/>
                </a:lnTo>
                <a:lnTo>
                  <a:pt x="2047875" y="141288"/>
                </a:lnTo>
                <a:lnTo>
                  <a:pt x="2303462" y="119063"/>
                </a:lnTo>
                <a:lnTo>
                  <a:pt x="2555875" y="100013"/>
                </a:lnTo>
                <a:lnTo>
                  <a:pt x="2809875" y="80963"/>
                </a:lnTo>
                <a:lnTo>
                  <a:pt x="3062288" y="65088"/>
                </a:lnTo>
                <a:lnTo>
                  <a:pt x="3313113" y="52388"/>
                </a:lnTo>
                <a:lnTo>
                  <a:pt x="3563938" y="39688"/>
                </a:lnTo>
                <a:lnTo>
                  <a:pt x="3811588" y="28575"/>
                </a:lnTo>
                <a:lnTo>
                  <a:pt x="4057650" y="20638"/>
                </a:lnTo>
                <a:lnTo>
                  <a:pt x="4303713" y="14288"/>
                </a:lnTo>
                <a:lnTo>
                  <a:pt x="4546600" y="7938"/>
                </a:lnTo>
                <a:lnTo>
                  <a:pt x="4787900" y="4763"/>
                </a:lnTo>
                <a:lnTo>
                  <a:pt x="5027613" y="158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 5">
            <a:extLst>
              <a:ext uri="{FF2B5EF4-FFF2-40B4-BE49-F238E27FC236}">
                <a16:creationId xmlns:a16="http://schemas.microsoft.com/office/drawing/2014/main" id="{79B9FD3C-5633-44F4-902E-55A97B2D2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0371525">
            <a:off x="263767" y="4132535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6C0518-A886-7479-D5DC-94CB9CBF5F7F}"/>
              </a:ext>
            </a:extLst>
          </p:cNvPr>
          <p:cNvSpPr txBox="1"/>
          <p:nvPr/>
        </p:nvSpPr>
        <p:spPr>
          <a:xfrm>
            <a:off x="4118126" y="4796686"/>
            <a:ext cx="6035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Client Connected Screenshot</a:t>
            </a:r>
          </a:p>
          <a:p>
            <a:r>
              <a:rPr lang="en-US" dirty="0">
                <a:solidFill>
                  <a:schemeClr val="bg1"/>
                </a:solidFill>
              </a:rPr>
              <a:t>Windows VPN assigned IP</a:t>
            </a:r>
          </a:p>
          <a:p>
            <a:r>
              <a:rPr lang="en-US" dirty="0">
                <a:solidFill>
                  <a:schemeClr val="bg1"/>
                </a:solidFill>
              </a:rPr>
              <a:t>OpenVPN Firewall Rule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253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9E44B-9FDC-5680-C1EA-F1A665E1F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IDS/IPS Threat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9197E-080C-EA13-DED3-F86817BA9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Suricata IDS/IPS Protection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We installed Suricata to monitor LAN and DMZ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We ran attacks (Nmap scans, brute-force, DoS simulation) from Kali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Suricata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detected and blocked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malicious packets in real time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Firewall and IDS logs proved our defenses worked</a:t>
            </a:r>
          </a:p>
          <a:p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6D22C4E-0197-87C1-877C-C414057FA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812" y="4524693"/>
            <a:ext cx="2971801" cy="1972628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A6F147-0F85-793B-29CE-0FF16B598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387" y="4679633"/>
            <a:ext cx="2924263" cy="197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243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8B3EC-F763-FB7E-B674-79F997F85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Achieved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A6DA2-9B91-A4D5-DBAF-8203F06A7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We isolated critical assets using segmentation</a:t>
            </a:r>
            <a:br>
              <a:rPr lang="en-US" dirty="0"/>
            </a:b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We controlled access using firewall policies</a:t>
            </a:r>
            <a:br>
              <a:rPr lang="en-US" dirty="0"/>
            </a:b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We secured remote access via encrypted VPN</a:t>
            </a:r>
            <a:br>
              <a:rPr lang="en-US" dirty="0"/>
            </a:b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detected and blocked threats using IDS/IPS</a:t>
            </a:r>
            <a:br>
              <a:rPr lang="en-US" dirty="0"/>
            </a:b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validated the entire network using penetration testing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4970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31</TotalTime>
  <Words>379</Words>
  <Application>Microsoft Macintosh PowerPoint</Application>
  <PresentationFormat>Widescreen</PresentationFormat>
  <Paragraphs>71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-webkit-standard</vt:lpstr>
      <vt:lpstr>Aptos</vt:lpstr>
      <vt:lpstr>Arial</vt:lpstr>
      <vt:lpstr>Century Gothic</vt:lpstr>
      <vt:lpstr>Wingdings 3</vt:lpstr>
      <vt:lpstr>Ion Boardroom</vt:lpstr>
      <vt:lpstr>Secure Network Design and Implementation</vt:lpstr>
      <vt:lpstr>Objectives</vt:lpstr>
      <vt:lpstr>PowerPoint Presentation</vt:lpstr>
      <vt:lpstr>Technologies</vt:lpstr>
      <vt:lpstr>Deliverables</vt:lpstr>
      <vt:lpstr>Network Environment Setup</vt:lpstr>
      <vt:lpstr>Network Architecture</vt:lpstr>
      <vt:lpstr>PowerPoint Presentation</vt:lpstr>
      <vt:lpstr>Firewall as Perimeter Defense</vt:lpstr>
      <vt:lpstr>PowerPoint Presentation</vt:lpstr>
      <vt:lpstr>Segmentation &amp; Access Control</vt:lpstr>
      <vt:lpstr>VPN Secure Remote Access</vt:lpstr>
      <vt:lpstr>PowerPoint Presentation</vt:lpstr>
      <vt:lpstr>IDS/IPS Threat Detection</vt:lpstr>
      <vt:lpstr>What We Achieved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Network Design and Implementation</dc:title>
  <dc:creator>Mariyada, Chandana</dc:creator>
  <cp:lastModifiedBy>Mariyada, Chandana</cp:lastModifiedBy>
  <cp:revision>1</cp:revision>
  <dcterms:created xsi:type="dcterms:W3CDTF">2025-11-29T13:22:52Z</dcterms:created>
  <dcterms:modified xsi:type="dcterms:W3CDTF">2025-11-29T13:54:37Z</dcterms:modified>
</cp:coreProperties>
</file>